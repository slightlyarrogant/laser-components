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1034269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AI Sales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49039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DD"/>
                </a:solidFill>
                <a:latin typeface="Calibri"/>
              </a:defRPr>
            </a:pPr>
            <a:r>
              <a:t>For Laser Components B2B Sales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5720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AUTOOFFICE Sp. z o.o.  |  January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760720"/>
            <a:ext cx="4846320" cy="36576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Current Pain Points in Sales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Generic AI tools don't understand your products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Research results lost in chat history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Manual verification of supply chain position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No knowledge accumulation between sessions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Each researcher starts from scratch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Inconsistent methodology across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4864" cy="4114800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AI-Powered Sales Research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Custom MCP Server with 28+ specialized tools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Claude AI Integration (Anthropic's state-of-the-art models)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Domain-Specific Skills with photonics industry knowledge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Persistent database for leads and research history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Scalable architecture from 1 user to enterprise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Learning system that improves with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4864" cy="4114800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Why This Platform?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10332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Generic AI (ChatGPT, etc.)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This Platform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product 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B6DFF"/>
                          </a:solidFill>
                          <a:latin typeface="Calibri"/>
                        </a:defRPr>
                      </a:pPr>
                      <a:r>
                        <a:t>245+ products in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Text output to copy/paste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B6DFF"/>
                          </a:solidFill>
                          <a:latin typeface="Calibri"/>
                        </a:defRPr>
                      </a:pPr>
                      <a:r>
                        <a:t>Leads stored, tagged, exportable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Each session starts 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B6DFF"/>
                          </a:solidFill>
                          <a:latin typeface="Calibri"/>
                        </a:defRPr>
                      </a:pPr>
                      <a:r>
                        <a:t>Learning scratch pad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Generic B2B understanding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B6DFF"/>
                          </a:solidFill>
                          <a:latin typeface="Calibri"/>
                        </a:defRPr>
                      </a:pPr>
                      <a:r>
                        <a:t>Supply chain positioning built-in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actions, just answers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B6DFF"/>
                          </a:solidFill>
                          <a:latin typeface="Calibri"/>
                        </a:defRPr>
                      </a:pPr>
                      <a:r>
                        <a:t>Creates leads, exports,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Supply Chain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Targeting the Right Companies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AB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>
                <a:solidFill>
                  <a:srgbClr val="1A1A2E"/>
                </a:solidFill>
                <a:latin typeface="Consolas"/>
              </a:defRPr>
            </a:pPr>
            <a:r>
              <a:t>[Laser Components]  --&gt;  [Component Integrators]  --&gt;  [Module Makers]  --&gt;  [System Integrators]  --&gt;  [OEMs]</a:t>
            </a:r>
          </a:p>
          <a:p>
            <a:pPr>
              <a:defRPr sz="1300" b="1">
                <a:solidFill>
                  <a:srgbClr val="4ABAFF"/>
                </a:solidFill>
                <a:latin typeface="Consolas"/>
              </a:defRPr>
            </a:pPr>
            <a:r>
              <a:t>                                              TARGETS                                            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02920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CORRECT TARGETS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Board manufacturers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Optical assembly houses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Contract manufacturers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Module builders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474720"/>
            <a:ext cx="502920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WRONG TARGETS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Final OEMs (BMW, Tesla)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System integrators (Velodyne)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Consumer brands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Retailers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Embedded Domain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Sales Research Skill Includes: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9B6DFF"/>
                </a:solidFill>
                <a:latin typeface="Calibri"/>
              </a:defRPr>
            </a:pPr>
            <a:r>
              <a:t>Industry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Product-application mapping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Wavelength correlations (905nm -&gt; LIDAR)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European photonics clusters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Trade show calendar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9B6DFF"/>
                </a:solidFill>
                <a:latin typeface="Calibri"/>
              </a:defRPr>
            </a:pPr>
            <a:r>
              <a:t>Automated Workflows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Geographic prospecting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Application discovery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Lead enrichment &amp; scoring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Competitive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731520"/>
          </a:xfrm>
          <a:prstGeom prst="round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Built-in lead qualification: supply chain position, technical fit, company viability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Comprehensive Toolset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28 MCP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BA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Core Data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Products, Leads, Applications,</a:t>
            </a:r>
            <a:br/>
            <a:r>
              <a:t>Categories CRUD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29184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BA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AI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566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Market analysis, enrichment,</a:t>
            </a:r>
            <a:br/>
            <a:r>
              <a:t>scoring, 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9184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BA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Analytics &amp;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Batch ops, exports, reports,</a:t>
            </a:r>
            <a:br/>
            <a:r>
              <a:t>activity feed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698480" cy="731520"/>
          </a:xfrm>
          <a:prstGeom prst="round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All tools accessible via natural language queries - no coding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Enterprise-Grade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500" b="1">
                <a:solidFill>
                  <a:srgbClr val="9B6DFF"/>
                </a:solidFill>
                <a:latin typeface="Calibri"/>
              </a:rPr>
              <a:t>AI Core   </a:t>
            </a:r>
            <a:r>
              <a:rPr sz="1400">
                <a:solidFill>
                  <a:srgbClr val="1A1A2E"/>
                </a:solidFill>
                <a:latin typeface="Calibri"/>
              </a:rPr>
              <a:t>Anthropic Claude Opus 4.5 (SOTA reasoning)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21208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500" b="1">
                <a:solidFill>
                  <a:srgbClr val="9B6DFF"/>
                </a:solidFill>
                <a:latin typeface="Calibri"/>
              </a:rPr>
              <a:t>Protocol   </a:t>
            </a:r>
            <a:r>
              <a:rPr sz="1400">
                <a:solidFill>
                  <a:srgbClr val="1A1A2E"/>
                </a:solidFill>
                <a:latin typeface="Calibri"/>
              </a:rPr>
              <a:t>MCP - Anthropic's official standard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521208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500" b="1">
                <a:solidFill>
                  <a:srgbClr val="9B6DFF"/>
                </a:solidFill>
                <a:latin typeface="Calibri"/>
              </a:rPr>
              <a:t>Database   </a:t>
            </a:r>
            <a:r>
              <a:rPr sz="1400">
                <a:solidFill>
                  <a:srgbClr val="1A1A2E"/>
                </a:solidFill>
                <a:latin typeface="Calibri"/>
              </a:rPr>
              <a:t>PostgreSQL + Prisma 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63240"/>
            <a:ext cx="521208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500" b="1">
                <a:solidFill>
                  <a:srgbClr val="9B6DFF"/>
                </a:solidFill>
                <a:latin typeface="Calibri"/>
              </a:rPr>
              <a:t>Research   </a:t>
            </a:r>
            <a:r>
              <a:rPr sz="1400">
                <a:solidFill>
                  <a:srgbClr val="1A1A2E"/>
                </a:solidFill>
                <a:latin typeface="Calibri"/>
              </a:rPr>
              <a:t>Perplexity AI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500" b="1">
                <a:solidFill>
                  <a:srgbClr val="9B6DFF"/>
                </a:solidFill>
                <a:latin typeface="Calibri"/>
              </a:rPr>
              <a:t>Security   </a:t>
            </a:r>
            <a:r>
              <a:rPr sz="1400">
                <a:solidFill>
                  <a:srgbClr val="1A1A2E"/>
                </a:solidFill>
                <a:latin typeface="Calibri"/>
              </a:rPr>
              <a:t>Data on YOUR infrastructure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21208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500" b="1">
                <a:solidFill>
                  <a:srgbClr val="9B6DFF"/>
                </a:solidFill>
                <a:latin typeface="Calibri"/>
              </a:rPr>
              <a:t>Compliance   </a:t>
            </a:r>
            <a:r>
              <a:rPr sz="1400">
                <a:solidFill>
                  <a:srgbClr val="1A1A2E"/>
                </a:solidFill>
                <a:latin typeface="Calibri"/>
              </a:rPr>
              <a:t>GDPR compliant by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Anthropic: $60B+ valuation, leading AI safety company, trusted by Amazon, Google, Salesforce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BAFF"/>
                </a:solidFill>
                <a:latin typeface="Calibri"/>
              </a:rPr>
              <a:t>Interface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5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  <a:latin typeface="Calibri"/>
              </a:rPr>
              <a:t>From CLI to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00000"/>
            <a:ext cx="5100000" cy="4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520" y="1950000"/>
            <a:ext cx="4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9B6DFF"/>
                </a:solidFill>
                <a:latin typeface="Calibri"/>
              </a:rPr>
              <a:t>Current: Claude Code (CLI)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Full power for tech users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Scriptable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520" y="3900000"/>
            <a:ext cx="4700000" cy="1800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1520" y="4100000"/>
            <a:ext cx="434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4ADE80"/>
                </a:solidFill>
                <a:latin typeface="Consolas"/>
              </a:rPr>
              <a:t>$ claude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&gt; Find Czech rangefinder companies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ADE80"/>
                </a:solidFill>
                <a:latin typeface="Consolas"/>
              </a:rPr>
              <a:t>[Creates 9 leads in database]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520" y="1700000"/>
            <a:ext cx="5100000" cy="4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1520" y="1950000"/>
            <a:ext cx="46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9B6DFF"/>
                </a:solidFill>
                <a:latin typeface="Calibri"/>
              </a:rPr>
              <a:t>Coming Q2 2026: Claude Cowork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Web-based interface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Team collaboration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Visual lead management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Non-technical user friendly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A1A2E"/>
                </a:solidFill>
                <a:latin typeface="Calibri"/>
              </a:rPr>
              <a:t>Same backend</a:t>
            </a:r>
            <a:r>
              <a:rPr sz="1200" b="0">
                <a:solidFill>
                  <a:srgbClr val="999999"/>
                </a:solidFill>
                <a:latin typeface="Calibri"/>
              </a:rPr>
              <a:t> – zero migration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Flexible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2926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4ABAFF"/>
                </a:solidFill>
                <a:latin typeface="Calibri"/>
              </a:defRPr>
            </a:pPr>
            <a:r>
              <a:t>Local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Single laptop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Zero infrastructure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Full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291840" cy="2926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4ABAFF"/>
                </a:solidFill>
                <a:latin typeface="Calibri"/>
              </a:defRPr>
            </a:pPr>
            <a:r>
              <a:t>Server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On-premise Linux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Team access via VPN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Shared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291840" cy="2926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4ABAFF"/>
                </a:solidFill>
                <a:latin typeface="Calibri"/>
              </a:defRPr>
            </a:pPr>
            <a:r>
              <a:t>Cloud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AWS / Azure / GCP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Access from anywhere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99.9% uptime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Database flexibility: Local  --&gt;  Company Server  --&gt;  Managed Cloud (Supabase, 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Pricing Tiers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Setup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Total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€10,500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 to 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€3,500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€48,000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 to 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€156,000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Strategic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Custom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€16,000+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€200,000+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All tiers include: API costs (Claude + Perplexity), maintenance, support, Claude Cowork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vs. Alternatives (10 users)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791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 Cost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What's Missing</a:t>
                      </a:r>
                    </a:p>
                  </a:txBody>
                  <a:tcPr>
                    <a:solidFill>
                      <a:srgbClr val="4ABA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ZoomInfo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€150,000+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Database only, no AI, no product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LinkedIn Sales Nav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€15,000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Contacts only, no lead storage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Dedicated FTE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€60,000+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 person, knowledge leaves when they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Custom AI Build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€200,000+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One-time, no maintenance included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BAFF"/>
                          </a:solidFill>
                          <a:latin typeface="Calibri"/>
                        </a:defRPr>
                      </a:pPr>
                      <a:r>
                        <a:t>This Platform (Team)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BAFF"/>
                          </a:solidFill>
                          <a:latin typeface="Calibri"/>
                        </a:defRPr>
                      </a:pPr>
                      <a:r>
                        <a:t>€48,000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BAFF"/>
                          </a:solidFill>
                          <a:latin typeface="Calibri"/>
                        </a:defRPr>
                      </a:pPr>
                      <a:r>
                        <a:t>Full capability + APIs + support included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defRPr sz="1500">
                <a:solidFill>
                  <a:srgbClr val="FFFFFF"/>
                </a:solidFill>
                <a:latin typeface="Calibri"/>
              </a:defRPr>
            </a:pPr>
            <a:r>
              <a:t>3x cheaper than ZoomInfo with domain-specific AI + all API costs 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BA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3-Phase Approach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560320"/>
            <a:ext cx="640080" cy="640080"/>
          </a:xfrm>
          <a:prstGeom prst="ellipse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Month 1-3</a:t>
            </a:r>
            <a:br/>
            <a:r>
              <a:t>Setup, training</a:t>
            </a:r>
            <a:br/>
            <a:r>
              <a:t>2-3 test markets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2743200"/>
            <a:ext cx="457200" cy="274320"/>
          </a:xfrm>
          <a:prstGeom prst="rightArrow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2560320"/>
            <a:ext cx="640080" cy="640080"/>
          </a:xfrm>
          <a:prstGeom prst="ellipse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6576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Month 4-6</a:t>
            </a:r>
            <a:br/>
            <a:r>
              <a:t>Full team rollout</a:t>
            </a:r>
            <a:br/>
            <a:r>
              <a:t>Integrations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00800" y="2743200"/>
            <a:ext cx="457200" cy="274320"/>
          </a:xfrm>
          <a:prstGeom prst="rightArrow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0" y="2560320"/>
            <a:ext cx="640080" cy="640080"/>
          </a:xfrm>
          <a:prstGeom prst="ellipse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576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Q2-Q3 2026</a:t>
            </a:r>
            <a:br/>
            <a:r>
              <a:t>Web interface</a:t>
            </a:r>
            <a:br/>
            <a:r>
              <a:t>Non-technical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0698480" cy="731520"/>
          </a:xfrm>
          <a:prstGeom prst="round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defRPr sz="1500">
                <a:solidFill>
                  <a:srgbClr val="FFFFFF"/>
                </a:solidFill>
                <a:latin typeface="Calibri"/>
              </a:defRPr>
            </a:pPr>
            <a:r>
              <a:t>Weekly check-ins during pilot  |  Continuous optimization  |  Same backend throughout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00" cy="274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BAFF"/>
                </a:solidFill>
                <a:latin typeface="Calibri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5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  <a:latin typeface="Calibri"/>
              </a:rPr>
              <a:t>Next Steps</a:t>
            </a:r>
          </a:p>
        </p:txBody>
      </p:sp>
      <p:sp>
        <p:nvSpPr>
          <p:cNvPr id="6" name="Oval 5"/>
          <p:cNvSpPr/>
          <p:nvPr/>
        </p:nvSpPr>
        <p:spPr>
          <a:xfrm>
            <a:off x="3065847" y="2710000"/>
            <a:ext cx="780000" cy="780000"/>
          </a:xfrm>
          <a:prstGeom prst="ellipse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05847" y="3000000"/>
            <a:ext cx="420000" cy="200000"/>
          </a:xfrm>
          <a:prstGeom prst="rightArrow">
            <a:avLst/>
          </a:prstGeom>
          <a:solidFill>
            <a:srgbClr val="4ABA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5847" y="3690000"/>
            <a:ext cx="1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Discovery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5847" y="401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Live demo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1 hour</a:t>
            </a:r>
          </a:p>
        </p:txBody>
      </p:sp>
      <p:sp>
        <p:nvSpPr>
          <p:cNvPr id="10" name="Oval 9"/>
          <p:cNvSpPr/>
          <p:nvPr/>
        </p:nvSpPr>
        <p:spPr>
          <a:xfrm>
            <a:off x="4385847" y="2710000"/>
            <a:ext cx="780000" cy="780000"/>
          </a:xfrm>
          <a:prstGeom prst="ellipse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25847" y="3000000"/>
            <a:ext cx="420000" cy="200000"/>
          </a:xfrm>
          <a:prstGeom prst="rightArrow">
            <a:avLst/>
          </a:prstGeom>
          <a:solidFill>
            <a:srgbClr val="4ABA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5847" y="3690000"/>
            <a:ext cx="1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Pilot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5847" y="401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Define test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markets</a:t>
            </a:r>
          </a:p>
        </p:txBody>
      </p:sp>
      <p:sp>
        <p:nvSpPr>
          <p:cNvPr id="14" name="Oval 13"/>
          <p:cNvSpPr/>
          <p:nvPr/>
        </p:nvSpPr>
        <p:spPr>
          <a:xfrm>
            <a:off x="5705847" y="2710000"/>
            <a:ext cx="780000" cy="780000"/>
          </a:xfrm>
          <a:prstGeom prst="ellipse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45847" y="3000000"/>
            <a:ext cx="420000" cy="200000"/>
          </a:xfrm>
          <a:prstGeom prst="rightArrow">
            <a:avLst/>
          </a:prstGeom>
          <a:solidFill>
            <a:srgbClr val="4ABA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5847" y="3690000"/>
            <a:ext cx="1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5847" y="401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Service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agreement</a:t>
            </a:r>
          </a:p>
        </p:txBody>
      </p:sp>
      <p:sp>
        <p:nvSpPr>
          <p:cNvPr id="18" name="Oval 17"/>
          <p:cNvSpPr/>
          <p:nvPr/>
        </p:nvSpPr>
        <p:spPr>
          <a:xfrm>
            <a:off x="7025847" y="2710000"/>
            <a:ext cx="780000" cy="780000"/>
          </a:xfrm>
          <a:prstGeom prst="ellipse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65847" y="3000000"/>
            <a:ext cx="420000" cy="200000"/>
          </a:xfrm>
          <a:prstGeom prst="rightArrow">
            <a:avLst/>
          </a:prstGeom>
          <a:solidFill>
            <a:srgbClr val="4ABA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5847" y="3690000"/>
            <a:ext cx="1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847" y="401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Setup +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training</a:t>
            </a:r>
          </a:p>
        </p:txBody>
      </p:sp>
      <p:sp>
        <p:nvSpPr>
          <p:cNvPr id="22" name="Oval 21"/>
          <p:cNvSpPr/>
          <p:nvPr/>
        </p:nvSpPr>
        <p:spPr>
          <a:xfrm>
            <a:off x="8345847" y="2710000"/>
            <a:ext cx="780000" cy="780000"/>
          </a:xfrm>
          <a:prstGeom prst="ellipse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5847" y="3690000"/>
            <a:ext cx="1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Go-Live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5847" y="401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Pilot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starts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BAFF"/>
                </a:solidFill>
                <a:latin typeface="Calibri"/>
              </a:defRPr>
            </a:pPr>
            <a:r>
              <a:t>Let's Talk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827415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560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Bogdan Czarnecki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BAFF"/>
                </a:solidFill>
                <a:latin typeface="Calibri"/>
              </a:defRPr>
            </a:pPr>
            <a:r>
              <a:t>bogdan.czarnecki@ikrystyna.pl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6118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BAFF"/>
                </a:solidFill>
                <a:latin typeface="Calibri"/>
              </a:defRPr>
            </a:pPr>
            <a:r>
              <a:t>+48 668 814 400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206240"/>
            <a:ext cx="3931920" cy="18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4805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AUTOOFFICE Sp. z o.o.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920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Sw. Wojciecha 2/9</a:t>
            </a:r>
            <a:br/>
            <a:r>
              <a:t>45-015 Opole, Poland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KRS: 0001117764  |  NIP: 7543370963  |  REGON: 529219565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4A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